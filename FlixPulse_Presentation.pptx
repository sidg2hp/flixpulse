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9376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797440" y="1664208"/>
            <a:ext cx="2900160" cy="754992"/>
          </a:xfrm>
          <a:prstGeom prst="roundRect">
            <a:avLst>
              <a:gd name="adj" fmla="val 50000"/>
            </a:avLst>
          </a:prstGeom>
          <a:solidFill>
            <a:srgbClr val="6C63FF">
              <a:alpha val="3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58800" y="18679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chemeClr val="bg2">
                    <a:lumMod val="90000"/>
                  </a:schemeClr>
                </a:solidFill>
              </a:rPr>
              <a:t>SIDDHARTHA GOSWAMI</a:t>
            </a:r>
          </a:p>
          <a:p>
            <a:pPr marL="0" indent="0" algn="ctr">
              <a:buNone/>
            </a:pPr>
            <a:r>
              <a:rPr lang="en-US" sz="1400" b="1" kern="0" spc="200" dirty="0">
                <a:solidFill>
                  <a:schemeClr val="bg2">
                    <a:lumMod val="90000"/>
                  </a:schemeClr>
                </a:solidFill>
              </a:rPr>
              <a:t>23323036</a:t>
            </a:r>
            <a:endParaRPr lang="en-US" sz="14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Flix</a:t>
            </a:r>
            <a:r>
              <a:rPr lang="en-US" sz="72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Factor Movie Recommendation &amp; Analytics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Movie Discovery Engine using the Netflix Prize Dataset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3200400" cy="228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93192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1A2235"/>
          </a:solidFill>
          <a:ln w="6350">
            <a:solidFill>
              <a:srgbClr val="6C63FF"/>
            </a:solidFill>
            <a:prstDash val="solid"/>
          </a:ln>
          <a:effectLst>
            <a:outerShdw blurRad="152400" dist="508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93192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21K+ Users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370832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Ratings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0" y="393192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1A2235"/>
          </a:solidFill>
          <a:ln w="6350">
            <a:solidFill>
              <a:srgbClr val="6C63FF"/>
            </a:solidFill>
            <a:prstDash val="solid"/>
          </a:ln>
          <a:effectLst>
            <a:outerShdw blurRad="152400" dist="508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0" y="393192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1,287 Movies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0" y="4370832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Subset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37760" y="393192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1A2235"/>
          </a:solidFill>
          <a:ln w="6350">
            <a:solidFill>
              <a:srgbClr val="6C63FF"/>
            </a:solidFill>
            <a:prstDash val="solid"/>
          </a:ln>
          <a:effectLst>
            <a:outerShdw blurRad="152400" dist="508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393192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5.7M Ratings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4370832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32320" y="393192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1A2235"/>
          </a:solidFill>
          <a:ln w="6350">
            <a:solidFill>
              <a:srgbClr val="6C63FF"/>
            </a:solidFill>
            <a:prstDash val="solid"/>
          </a:ln>
          <a:effectLst>
            <a:outerShdw blurRad="152400" dist="508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32320" y="393192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0.816 RMSE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32320" y="4370832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Accuracy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474720" cy="347472"/>
          </a:xfrm>
          <a:prstGeom prst="roundRect">
            <a:avLst>
              <a:gd name="adj" fmla="val 50000"/>
            </a:avLst>
          </a:prstGeom>
          <a:solidFill>
            <a:srgbClr val="FF6B6B">
              <a:alpha val="2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6B6B"/>
                </a:solidFill>
              </a:rPr>
              <a:t>PROBLEM STATEMENT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Personalization Challenge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Sparsity, Latency &amp; Cold-Start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160520" cy="1371600"/>
          </a:xfrm>
          <a:prstGeom prst="roundRect">
            <a:avLst>
              <a:gd name="adj" fmla="val 8000"/>
            </a:avLst>
          </a:prstGeom>
          <a:solidFill>
            <a:srgbClr val="1A2235"/>
          </a:solidFill>
          <a:ln w="6350">
            <a:solidFill>
              <a:srgbClr val="00D4FF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0428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20299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Sparsity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70432" y="2377440"/>
            <a:ext cx="3310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user logs are extremely sparse — over 99% of ratings are missing, making reliable inference difficult.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846320" y="1920240"/>
            <a:ext cx="4160520" cy="1371600"/>
          </a:xfrm>
          <a:prstGeom prst="roundRect">
            <a:avLst>
              <a:gd name="adj" fmla="val 8000"/>
            </a:avLst>
          </a:prstGeom>
          <a:solidFill>
            <a:srgbClr val="1A2235"/>
          </a:solidFill>
          <a:ln w="6350">
            <a:solidFill>
              <a:srgbClr val="FFD166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30428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9552" y="20299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Latency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559552" y="2377440"/>
            <a:ext cx="3310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recommendation services must resolve personalized results within milliseconds at scale.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57200" y="3474720"/>
            <a:ext cx="4160520" cy="1371600"/>
          </a:xfrm>
          <a:prstGeom prst="roundRect">
            <a:avLst>
              <a:gd name="adj" fmla="val 8000"/>
            </a:avLst>
          </a:prstGeom>
          <a:solidFill>
            <a:srgbClr val="1A2235"/>
          </a:solidFill>
          <a:ln w="6350">
            <a:solidFill>
              <a:srgbClr val="FF6B6B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858768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70432" y="35844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Cold-Start Problem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170432" y="3931920"/>
            <a:ext cx="3310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users and movies have zero historical ratings, leaving standard collaborative filters unable to predict.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846320" y="3474720"/>
            <a:ext cx="4160520" cy="1371600"/>
          </a:xfrm>
          <a:prstGeom prst="roundRect">
            <a:avLst>
              <a:gd name="adj" fmla="val 8000"/>
            </a:avLst>
          </a:prstGeom>
          <a:solidFill>
            <a:srgbClr val="1A2235"/>
          </a:solidFill>
          <a:ln w="6350">
            <a:solidFill>
              <a:srgbClr val="6C63FF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3858768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559552" y="35844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 Gap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559552" y="3931920"/>
            <a:ext cx="3310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predictions are often 'black boxes' — users need transparent reasoning to trust recommendations.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560320" cy="347472"/>
          </a:xfrm>
          <a:prstGeom prst="roundRect">
            <a:avLst>
              <a:gd name="adj" fmla="val 50000"/>
            </a:avLst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D4FF"/>
                </a:solidFill>
              </a:rPr>
              <a:t>DATASET &amp; EDA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Subset Insights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User Statistics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474720" cy="804672"/>
          </a:xfrm>
          <a:prstGeom prst="roundRect">
            <a:avLst>
              <a:gd name="adj" fmla="val 11364"/>
            </a:avLst>
          </a:prstGeom>
          <a:solidFill>
            <a:srgbClr val="1A2235"/>
          </a:solidFill>
          <a:ln w="6350">
            <a:solidFill>
              <a:srgbClr val="00D4FF"/>
            </a:solidFill>
            <a:prstDash val="solid"/>
          </a:ln>
          <a:effectLst>
            <a:outerShdw blurRad="1524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91109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21,045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3474720" cy="804672"/>
          </a:xfrm>
          <a:prstGeom prst="roundRect">
            <a:avLst>
              <a:gd name="adj" fmla="val 11364"/>
            </a:avLst>
          </a:prstGeom>
          <a:solidFill>
            <a:srgbClr val="1A2235"/>
          </a:solidFill>
          <a:ln w="6350">
            <a:solidFill>
              <a:srgbClr val="FFD166"/>
            </a:solidFill>
            <a:prstDash val="solid"/>
          </a:ln>
          <a:effectLst>
            <a:outerShdw blurRad="1524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287121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1,287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8580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3474720" cy="804672"/>
          </a:xfrm>
          <a:prstGeom prst="roundRect">
            <a:avLst>
              <a:gd name="adj" fmla="val 11364"/>
            </a:avLst>
          </a:prstGeom>
          <a:solidFill>
            <a:srgbClr val="1A2235"/>
          </a:solidFill>
          <a:ln w="6350">
            <a:solidFill>
              <a:srgbClr val="6C63FF"/>
            </a:solidFill>
            <a:prstDash val="solid"/>
          </a:ln>
          <a:effectLst>
            <a:outerShdw blurRad="1524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83133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85800" y="4251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0" y="1874520"/>
            <a:ext cx="4572000" cy="804672"/>
          </a:xfrm>
          <a:prstGeom prst="roundRect">
            <a:avLst>
              <a:gd name="adj" fmla="val 11364"/>
            </a:avLst>
          </a:prstGeom>
          <a:solidFill>
            <a:srgbClr val="1A2235"/>
          </a:solidFill>
          <a:ln w="6350">
            <a:solidFill>
              <a:srgbClr val="FFD166"/>
            </a:solidFill>
            <a:prstDash val="solid"/>
          </a:ln>
          <a:effectLst>
            <a:outerShdw blurRad="1524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98848" y="19293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60%+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760720" y="194767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 are 4★ or 5★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498848" y="235000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rating 3.73 — strong positive selection bias in the dataset.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97680" y="2834640"/>
            <a:ext cx="4572000" cy="804672"/>
          </a:xfrm>
          <a:prstGeom prst="roundRect">
            <a:avLst>
              <a:gd name="adj" fmla="val 11364"/>
            </a:avLst>
          </a:prstGeom>
          <a:solidFill>
            <a:srgbClr val="1A2235"/>
          </a:solidFill>
          <a:ln w="6350">
            <a:solidFill>
              <a:srgbClr val="FF6B6B"/>
            </a:solidFill>
            <a:prstDash val="solid"/>
          </a:ln>
          <a:effectLst>
            <a:outerShdw blurRad="1524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98848" y="28895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60720" y="290779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Density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498848" y="331012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78.96% of the rating matrix is sparse — a core challenge for the models.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97680" y="3794760"/>
            <a:ext cx="4572000" cy="804672"/>
          </a:xfrm>
          <a:prstGeom prst="roundRect">
            <a:avLst>
              <a:gd name="adj" fmla="val 11364"/>
            </a:avLst>
          </a:prstGeom>
          <a:solidFill>
            <a:srgbClr val="1A2235"/>
          </a:solidFill>
          <a:ln w="6350">
            <a:solidFill>
              <a:srgbClr val="6C63FF"/>
            </a:solidFill>
            <a:prstDash val="solid"/>
          </a:ln>
          <a:effectLst>
            <a:outerShdw blurRad="1524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498848" y="384962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Tail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760720" y="386791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498848" y="427024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Blockbuster titles capture a disproportionate share of all reviews.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6C63FF">
              <a:alpha val="2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6C63FF"/>
                </a:solidFill>
              </a:rPr>
              <a:t>MODEL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SVD Latent Factors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KNN Neighborhood Models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931920" cy="2926080"/>
          </a:xfrm>
          <a:prstGeom prst="roundRect">
            <a:avLst>
              <a:gd name="adj" fmla="val 4375"/>
            </a:avLst>
          </a:prstGeom>
          <a:solidFill>
            <a:srgbClr val="1A2235"/>
          </a:solidFill>
          <a:ln w="19050">
            <a:solidFill>
              <a:srgbClr val="6C63FF"/>
            </a:solidFill>
            <a:prstDash val="solid"/>
          </a:ln>
          <a:effectLst>
            <a:outerShdw blurRad="152400" dist="508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3931920" cy="502920"/>
          </a:xfrm>
          <a:prstGeom prst="roundRect">
            <a:avLst>
              <a:gd name="adj" fmla="val 25455"/>
            </a:avLst>
          </a:prstGeom>
          <a:solidFill>
            <a:srgbClr val="6C63FF">
              <a:alpha val="75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28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Factorization (SVD)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latent user vectors pu and item vectors qi from rating data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9900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Predicts: r̂ u,i = μ + bu + bi + pu^T qi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5112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terms (bu, bi) capture systematic rating tendencies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403250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with Stochastic Gradient Descent (SGD)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828800"/>
            <a:ext cx="3931920" cy="2926080"/>
          </a:xfrm>
          <a:prstGeom prst="roundRect">
            <a:avLst>
              <a:gd name="adj" fmla="val 4375"/>
            </a:avLst>
          </a:prstGeom>
          <a:solidFill>
            <a:srgbClr val="1A2235"/>
          </a:solidFill>
          <a:ln w="19050">
            <a:solidFill>
              <a:srgbClr val="00D4FF"/>
            </a:solidFill>
            <a:prstDash val="solid"/>
          </a:ln>
          <a:effectLst>
            <a:outerShdw blurRad="152400" dist="508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828800"/>
            <a:ext cx="3931920" cy="502920"/>
          </a:xfrm>
          <a:prstGeom prst="roundRect">
            <a:avLst>
              <a:gd name="adj" fmla="val 25455"/>
            </a:avLst>
          </a:prstGeom>
          <a:solidFill>
            <a:srgbClr val="00D4FF">
              <a:alpha val="7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828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Item-Based KNN Model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468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item similarities using adjusted Cosine Correlation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29900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via weighted average of nearest-neighbor rated items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35112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interpretable — explains why items are related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3480" y="403250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latent factors; similarity is directly observable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51960" y="3017520"/>
            <a:ext cx="640080" cy="64008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  <a:effectLst>
            <a:outerShdw blurRad="152400" dist="508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519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FFD166">
              <a:alpha val="2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D166"/>
                </a:solidFill>
              </a:rPr>
              <a:t>EVALUATION 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Prediction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MAP@10 Ranking Performance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1A2235"/>
          </a:solidFill>
          <a:ln w="19050">
            <a:solidFill>
              <a:srgbClr val="6C63FF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901952"/>
            <a:ext cx="1225296" cy="256032"/>
          </a:xfrm>
          <a:prstGeom prst="roundRect">
            <a:avLst>
              <a:gd name="adj" fmla="val 50000"/>
            </a:avLst>
          </a:prstGeom>
          <a:solidFill>
            <a:srgbClr val="6C63FF">
              <a:alpha val="8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901952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FFFFF"/>
                </a:solidFill>
              </a:rPr>
              <a:t>WINNER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0.8160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8529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SVD · RMSE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1455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accuracy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33472" y="182880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1A2235"/>
          </a:solidFill>
          <a:ln w="19050">
            <a:solidFill>
              <a:srgbClr val="6C63FF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80944" y="1901952"/>
            <a:ext cx="1225296" cy="256032"/>
          </a:xfrm>
          <a:prstGeom prst="roundRect">
            <a:avLst>
              <a:gd name="adj" fmla="val 50000"/>
            </a:avLst>
          </a:prstGeom>
          <a:solidFill>
            <a:srgbClr val="6C63FF">
              <a:alpha val="8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80944" y="1901952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FFFFF"/>
                </a:solidFill>
              </a:rPr>
              <a:t>WINNER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633472" y="22128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0.7427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633472" y="28529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SVD · MAP@10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33472" y="31455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ranking quality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809744" y="182880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1A2235"/>
          </a:solidFill>
          <a:ln w="6350">
            <a:solidFill>
              <a:srgbClr val="00D4FF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9744" y="22128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0.8553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809744" y="28529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· RMSE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09744" y="31455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accuracy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986016" y="182880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1A2235"/>
          </a:solidFill>
          <a:ln w="6350">
            <a:solidFill>
              <a:srgbClr val="00D4FF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86016" y="22128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0.7079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986016" y="28529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· MAP@10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86016" y="31455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ranking quality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3749040"/>
            <a:ext cx="8229600" cy="1051560"/>
          </a:xfrm>
          <a:prstGeom prst="roundRect">
            <a:avLst>
              <a:gd name="adj" fmla="val 10435"/>
            </a:avLst>
          </a:prstGeom>
          <a:solidFill>
            <a:srgbClr val="0F1729"/>
          </a:solidFill>
          <a:ln w="3810">
            <a:solidFill>
              <a:srgbClr val="8892A4"/>
            </a:solidFill>
            <a:prstDash val="solid"/>
          </a:ln>
          <a:effectLst>
            <a:outerShdw blurRad="152400" dist="508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5800" y="3822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 Comparison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" y="4160520"/>
            <a:ext cx="329184" cy="457200"/>
          </a:xfrm>
          <a:prstGeom prst="roundRect">
            <a:avLst>
              <a:gd name="adj" fmla="val 13889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127461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920240" y="4097919"/>
            <a:ext cx="6583680" cy="457200"/>
          </a:xfrm>
          <a:prstGeom prst="roundRect">
            <a:avLst>
              <a:gd name="adj" fmla="val 10000"/>
            </a:avLst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20240" y="4075059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 225.9s  (25× slower)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FFD166">
              <a:alpha val="2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D166"/>
                </a:solidFill>
              </a:rPr>
              <a:t>EXPLAINABLE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SVD Accuracy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KNN Interpretability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651760" cy="2834640"/>
          </a:xfrm>
          <a:prstGeom prst="roundRect">
            <a:avLst>
              <a:gd name="adj" fmla="val 4828"/>
            </a:avLst>
          </a:prstGeom>
          <a:solidFill>
            <a:srgbClr val="1A2235"/>
          </a:solidFill>
          <a:ln w="15240">
            <a:solidFill>
              <a:srgbClr val="FF6B6B"/>
            </a:solidFill>
            <a:prstDash val="solid"/>
          </a:ln>
          <a:effectLst>
            <a:outerShdw blurRad="152400" dist="50800" dir="2700000" algn="bl" rotWithShape="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2651760" cy="475488"/>
          </a:xfrm>
          <a:prstGeom prst="roundRect">
            <a:avLst>
              <a:gd name="adj" fmla="val 26923"/>
            </a:avLst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202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Trade-off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487168"/>
            <a:ext cx="239572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is highly accurate but uninterpretable — users receive no reason for recommendations.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is naturally explainable, but less accurate and significantly slower to train.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55848" y="1920240"/>
            <a:ext cx="2651760" cy="2834640"/>
          </a:xfrm>
          <a:prstGeom prst="roundRect">
            <a:avLst>
              <a:gd name="adj" fmla="val 4828"/>
            </a:avLst>
          </a:prstGeom>
          <a:solidFill>
            <a:srgbClr val="1A2235"/>
          </a:solidFill>
          <a:ln w="15240">
            <a:solidFill>
              <a:srgbClr val="6C63FF"/>
            </a:solidFill>
            <a:prstDash val="solid"/>
          </a:ln>
          <a:effectLst>
            <a:outerShdw blurRad="152400" dist="50800" dir="27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55848" y="1920240"/>
            <a:ext cx="2651760" cy="475488"/>
          </a:xfrm>
          <a:prstGeom prst="roundRect">
            <a:avLst>
              <a:gd name="adj" fmla="val 26923"/>
            </a:avLst>
          </a:prstGeom>
          <a:solidFill>
            <a:srgbClr val="6C63FF">
              <a:alpha val="8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19202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Solution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93008" y="2487168"/>
            <a:ext cx="239572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generates the scored candidates and final ranking list.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similarity weights are applied post-hoc to produce human-readable explanations for each result.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54496" y="1920240"/>
            <a:ext cx="2651760" cy="2834640"/>
          </a:xfrm>
          <a:prstGeom prst="roundRect">
            <a:avLst>
              <a:gd name="adj" fmla="val 4828"/>
            </a:avLst>
          </a:prstGeom>
          <a:solidFill>
            <a:srgbClr val="1A2235"/>
          </a:solidFill>
          <a:ln w="15240">
            <a:solidFill>
              <a:srgbClr val="00D4FF"/>
            </a:solidFill>
            <a:prstDash val="solid"/>
          </a:ln>
          <a:effectLst>
            <a:outerShdw blurRad="152400" dist="50800" dir="27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54496" y="1920240"/>
            <a:ext cx="2651760" cy="475488"/>
          </a:xfrm>
          <a:prstGeom prst="roundRect">
            <a:avLst>
              <a:gd name="adj" fmla="val 26923"/>
            </a:avLst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1656" y="19202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Output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91656" y="2487168"/>
            <a:ext cx="239572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"Because you rated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Story 5★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(Similarity: 98%),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recommend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Story 2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(SVD score: 4.8★)"</a:t>
            </a:r>
            <a:endParaRPr lang="en-US" sz="10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1993392"/>
            <a:ext cx="310896" cy="31089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3131820" y="3054096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2A4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016752" y="3054096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2A4"/>
                </a:solidFill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FF6B6B">
              <a:alpha val="2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6B6B"/>
                </a:solidFill>
              </a:rPr>
              <a:t>COLD-START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Cold-Start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Users and Movies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651760" cy="2788920"/>
          </a:xfrm>
          <a:prstGeom prst="roundRect">
            <a:avLst>
              <a:gd name="adj" fmla="val 4828"/>
            </a:avLst>
          </a:prstGeom>
          <a:solidFill>
            <a:srgbClr val="1A2235"/>
          </a:solidFill>
          <a:ln w="12700">
            <a:solidFill>
              <a:srgbClr val="00D4FF"/>
            </a:solidFill>
            <a:prstDash val="solid"/>
          </a:ln>
          <a:effectLst>
            <a:outerShdw blurRad="152400" dist="50800" dir="2700000" algn="bl" rotWithShape="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63040" y="2084832"/>
            <a:ext cx="658368" cy="658368"/>
          </a:xfrm>
          <a:prstGeom prst="ellipse">
            <a:avLst/>
          </a:prstGeom>
          <a:solidFill>
            <a:srgbClr val="00D4FF">
              <a:alpha val="75000"/>
            </a:srgbClr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2194560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2834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User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8368" y="324612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back to popularity recommender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58368" y="370332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movies with highest mean rating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58368" y="416052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≥ 2,000 existing ratings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355848" y="1965960"/>
            <a:ext cx="2651760" cy="2788920"/>
          </a:xfrm>
          <a:prstGeom prst="roundRect">
            <a:avLst>
              <a:gd name="adj" fmla="val 4828"/>
            </a:avLst>
          </a:prstGeom>
          <a:solidFill>
            <a:srgbClr val="1A2235"/>
          </a:solidFill>
          <a:ln w="12700">
            <a:solidFill>
              <a:srgbClr val="FFD166"/>
            </a:solidFill>
            <a:prstDash val="solid"/>
          </a:ln>
          <a:effectLst>
            <a:outerShdw blurRad="152400" dist="50800" dir="27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61688" y="2084832"/>
            <a:ext cx="658368" cy="658368"/>
          </a:xfrm>
          <a:prstGeom prst="ellipse">
            <a:avLst/>
          </a:prstGeom>
          <a:solidFill>
            <a:srgbClr val="FFD166">
              <a:alpha val="75000"/>
            </a:srgbClr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416" y="2194560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93008" y="2834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Movie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557016" y="324612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metadata overlap for similarity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557016" y="370332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ε-greedy exploration injects new releases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557016" y="416052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to active users guaranteed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254496" y="1965960"/>
            <a:ext cx="2651760" cy="2788920"/>
          </a:xfrm>
          <a:prstGeom prst="roundRect">
            <a:avLst>
              <a:gd name="adj" fmla="val 4828"/>
            </a:avLst>
          </a:prstGeom>
          <a:solidFill>
            <a:srgbClr val="1A2235"/>
          </a:solidFill>
          <a:ln w="12700">
            <a:solidFill>
              <a:srgbClr val="6C63FF"/>
            </a:solidFill>
            <a:prstDash val="solid"/>
          </a:ln>
          <a:effectLst>
            <a:outerShdw blurRad="152400" dist="50800" dir="27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260336" y="2084832"/>
            <a:ext cx="658368" cy="658368"/>
          </a:xfrm>
          <a:prstGeom prst="ellipse">
            <a:avLst/>
          </a:prstGeom>
          <a:solidFill>
            <a:srgbClr val="6C63FF">
              <a:alpha val="75000"/>
            </a:srgbClr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0064" y="2194560"/>
            <a:ext cx="438912" cy="43891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91656" y="2834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History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55664" y="324612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popularity averages + hybrid predictions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6455664" y="370332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Item-based KNN fills gaps from partial history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6455664" y="416052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Confidence-weighted blending strategy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0" y="274320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6C63FF">
              <a:alpha val="2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6C63FF"/>
                </a:solidFill>
              </a:rPr>
              <a:t>DEPLOYMENT &amp; ROADMAP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Decoupled Web Application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Interactive Dashboard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931920" cy="1234440"/>
          </a:xfrm>
          <a:prstGeom prst="roundRect">
            <a:avLst>
              <a:gd name="adj" fmla="val 8889"/>
            </a:avLst>
          </a:prstGeom>
          <a:solidFill>
            <a:srgbClr val="1A2235"/>
          </a:solidFill>
          <a:ln w="12700">
            <a:solidFill>
              <a:srgbClr val="00D4FF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9933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Backend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22576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server with cached recommendations, similarity lookups, and sub-50ms p99 latency. Modular endpoints for personalized feeds, item lookup, and explanation retrieval.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3931920" cy="1234440"/>
          </a:xfrm>
          <a:prstGeom prst="roundRect">
            <a:avLst>
              <a:gd name="adj" fmla="val 8889"/>
            </a:avLst>
          </a:prstGeom>
          <a:solidFill>
            <a:srgbClr val="1A2235"/>
          </a:solidFill>
          <a:ln w="12700">
            <a:solidFill>
              <a:srgbClr val="6C63FF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3649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 Frontend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694176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Vite-based React SPA with premium dark-mode glassmorphism styling, custom SVG stats charts, and animated discovery feed. Fully responsive and production-ready.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920240"/>
            <a:ext cx="4023360" cy="2606040"/>
          </a:xfrm>
          <a:prstGeom prst="roundRect">
            <a:avLst>
              <a:gd name="adj" fmla="val 4912"/>
            </a:avLst>
          </a:prstGeom>
          <a:solidFill>
            <a:srgbClr val="1A2235"/>
          </a:solidFill>
          <a:ln w="19050">
            <a:solidFill>
              <a:srgbClr val="FFD166"/>
            </a:solidFill>
            <a:prstDash val="solid"/>
          </a:ln>
          <a:effectLst>
            <a:outerShdw blurRad="152400" dist="508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920240"/>
            <a:ext cx="4023360" cy="457200"/>
          </a:xfrm>
          <a:prstGeom prst="roundRect">
            <a:avLst>
              <a:gd name="adj" fmla="val 28000"/>
            </a:avLst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920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28032" y="2542032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10912" y="249631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Neural Collaborative Filtering networks for higher-capacity latent representations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28032" y="3063240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0912" y="30175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 scraper integration for movie posters, trailers, and cast metadata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28032" y="3584448"/>
            <a:ext cx="109728" cy="10972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353872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feedback with session-aware contextual bandits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28032" y="4105656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405993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framework for live ranking model comparison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8229600" cy="274320"/>
          </a:xfrm>
          <a:prstGeom prst="roundRect">
            <a:avLst>
              <a:gd name="adj" fmla="val 26667"/>
            </a:avLst>
          </a:prstGeom>
          <a:solidFill>
            <a:srgbClr val="6C63FF">
              <a:alpha val="15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FlixPulse  ·  https://github.com/sidg2hp/FlixPulse</a:t>
            </a:r>
            <a:endParaRPr lang="en-U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621</Words>
  <Application>Microsoft Office PowerPoint</Application>
  <PresentationFormat>On-screen Show (16:9)</PresentationFormat>
  <Paragraphs>133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FlixPulse: Personalized Movie Discovery System</dc:title>
  <dc:subject>PptxGenJS Presentation</dc:subject>
  <dc:creator>PptxGenJS</dc:creator>
  <cp:lastModifiedBy>sidgos010304@gmail.com</cp:lastModifiedBy>
  <cp:revision>2</cp:revision>
  <dcterms:created xsi:type="dcterms:W3CDTF">2026-06-11T05:14:53Z</dcterms:created>
  <dcterms:modified xsi:type="dcterms:W3CDTF">2026-06-11T05:37:59Z</dcterms:modified>
</cp:coreProperties>
</file>